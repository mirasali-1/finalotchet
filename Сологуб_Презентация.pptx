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5726" autoAdjust="0"/>
  </p:normalViewPr>
  <p:slideViewPr>
    <p:cSldViewPr snapToGrid="0" snapToObjects="1">
      <p:cViewPr>
        <p:scale>
          <a:sx n="128" d="100"/>
          <a:sy n="128" d="100"/>
        </p:scale>
        <p:origin x="91" y="-1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857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98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73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3" Type="http://schemas.openxmlformats.org/officeDocument/2006/relationships/image" Target="../media/image1.png"/><Relationship Id="rId7" Type="http://schemas.openxmlformats.org/officeDocument/2006/relationships/slide" Target="slide6.xml"/><Relationship Id="rId12" Type="http://schemas.openxmlformats.org/officeDocument/2006/relationships/slide" Target="slide11.xml"/><Relationship Id="rId2" Type="http://schemas.openxmlformats.org/officeDocument/2006/relationships/notesSlide" Target="../notesSlides/notesSlide2.xml"/><Relationship Id="rId16" Type="http://schemas.openxmlformats.org/officeDocument/2006/relationships/slide" Target="slide1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5" Type="http://schemas.openxmlformats.org/officeDocument/2006/relationships/slide" Target="slide1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Relationship Id="rId1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slide" Target="slide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1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00A"/>
          </a:solidFill>
          <a:ln/>
        </p:spPr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BD05D2-8CDF-DC8A-E86C-390E01C7E2E7}"/>
              </a:ext>
            </a:extLst>
          </p:cNvPr>
          <p:cNvSpPr txBox="1"/>
          <p:nvPr/>
        </p:nvSpPr>
        <p:spPr>
          <a:xfrm>
            <a:off x="302698" y="685800"/>
            <a:ext cx="8532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Ликино-Дулевский политехнический колледж – филиал ГОУ ВО МО Государственное образовательное учреждение высшего образования Московской области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74398A-428D-F0DE-CBEE-93FF5F5D7B74}"/>
              </a:ext>
            </a:extLst>
          </p:cNvPr>
          <p:cNvSpPr txBox="1"/>
          <p:nvPr/>
        </p:nvSpPr>
        <p:spPr>
          <a:xfrm>
            <a:off x="3651293" y="2202418"/>
            <a:ext cx="2112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09.02.07 УП.</a:t>
            </a:r>
            <a:r>
              <a:rPr lang="ru-RU"/>
              <a:t>11 19</a:t>
            </a:r>
            <a:endParaRPr lang="ru-RU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11DB12-3632-03A5-096D-C59C44AA2FC0}"/>
              </a:ext>
            </a:extLst>
          </p:cNvPr>
          <p:cNvSpPr txBox="1"/>
          <p:nvPr/>
        </p:nvSpPr>
        <p:spPr>
          <a:xfrm>
            <a:off x="2683378" y="2466734"/>
            <a:ext cx="404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Тема: «Система управления складом»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932754-5071-E828-58BE-BFDEE949BBF3}"/>
              </a:ext>
            </a:extLst>
          </p:cNvPr>
          <p:cNvSpPr txBox="1"/>
          <p:nvPr/>
        </p:nvSpPr>
        <p:spPr>
          <a:xfrm>
            <a:off x="6524297" y="3772163"/>
            <a:ext cx="2620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00" dirty="0"/>
              <a:t>Выполнил: Сологуб Денис </a:t>
            </a:r>
            <a:r>
              <a:rPr lang="ru-RU" sz="1100" dirty="0" err="1"/>
              <a:t>Марианович</a:t>
            </a:r>
            <a:endParaRPr lang="ru-RU" sz="11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00BE51-36EF-B472-8C75-3CA6CA58A0E2}"/>
              </a:ext>
            </a:extLst>
          </p:cNvPr>
          <p:cNvSpPr txBox="1"/>
          <p:nvPr/>
        </p:nvSpPr>
        <p:spPr>
          <a:xfrm>
            <a:off x="6524297" y="3932972"/>
            <a:ext cx="2620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00" dirty="0"/>
              <a:t>Группа: ИСП23.1А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C01ADA-EBED-7A39-734A-AF8CE5B11220}"/>
              </a:ext>
            </a:extLst>
          </p:cNvPr>
          <p:cNvSpPr txBox="1"/>
          <p:nvPr/>
        </p:nvSpPr>
        <p:spPr>
          <a:xfrm>
            <a:off x="6524297" y="4093781"/>
            <a:ext cx="26207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00" dirty="0"/>
              <a:t>Руководители: </a:t>
            </a:r>
            <a:r>
              <a:rPr lang="ru-RU" sz="1100" dirty="0" err="1"/>
              <a:t>Гжегожевский</a:t>
            </a:r>
            <a:r>
              <a:rPr lang="ru-RU" sz="1100" dirty="0"/>
              <a:t> С.В., Селиверстова О.М.</a:t>
            </a:r>
          </a:p>
        </p:txBody>
      </p:sp>
    </p:spTree>
    <p:extLst>
      <p:ext uri="{BB962C8B-B14F-4D97-AF65-F5344CB8AC3E}">
        <p14:creationId xmlns:p14="http://schemas.microsoft.com/office/powerpoint/2010/main" val="10494454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00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Оглавление</a:t>
            </a:r>
            <a:endParaRPr lang="en-US" sz="2200" dirty="0"/>
          </a:p>
        </p:txBody>
      </p:sp>
      <p:sp>
        <p:nvSpPr>
          <p:cNvPr id="109" name="Управляющая кнопка: &quot;Пустой&quot; 10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3FA08280-4D12-AFDC-E148-3A7986C3A373}"/>
              </a:ext>
            </a:extLst>
          </p:cNvPr>
          <p:cNvSpPr/>
          <p:nvPr/>
        </p:nvSpPr>
        <p:spPr>
          <a:xfrm>
            <a:off x="296393" y="904310"/>
            <a:ext cx="2285368" cy="28125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</a:rPr>
              <a:t>Постановка задачи</a:t>
            </a:r>
          </a:p>
        </p:txBody>
      </p:sp>
      <p:sp>
        <p:nvSpPr>
          <p:cNvPr id="110" name="Управляющая кнопка: &quot;Пустой&quot; 109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030039D2-0B22-2EC3-76D8-621F4052E4C9}"/>
              </a:ext>
            </a:extLst>
          </p:cNvPr>
          <p:cNvSpPr/>
          <p:nvPr/>
        </p:nvSpPr>
        <p:spPr>
          <a:xfrm>
            <a:off x="296393" y="1167457"/>
            <a:ext cx="2934906" cy="28125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</a:rPr>
              <a:t>Функциональный анализ</a:t>
            </a:r>
          </a:p>
        </p:txBody>
      </p:sp>
      <p:sp>
        <p:nvSpPr>
          <p:cNvPr id="111" name="Управляющая кнопка: &quot;Пустой&quot; 110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8D893BE6-845B-D7F0-9E6E-20CEA36F9E0B}"/>
              </a:ext>
            </a:extLst>
          </p:cNvPr>
          <p:cNvSpPr/>
          <p:nvPr/>
        </p:nvSpPr>
        <p:spPr>
          <a:xfrm>
            <a:off x="284411" y="1430604"/>
            <a:ext cx="4519343" cy="28125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</a:rPr>
              <a:t>Технология </a:t>
            </a:r>
            <a:r>
              <a:rPr lang="en-US" sz="1600" dirty="0">
                <a:solidFill>
                  <a:schemeClr val="tx1"/>
                </a:solidFill>
              </a:rPr>
              <a:t>UML — </a:t>
            </a:r>
            <a:r>
              <a:rPr lang="ru-RU" sz="1600" dirty="0">
                <a:solidFill>
                  <a:schemeClr val="tx1"/>
                </a:solidFill>
              </a:rPr>
              <a:t>Диаграмма действий</a:t>
            </a:r>
          </a:p>
        </p:txBody>
      </p:sp>
      <p:sp>
        <p:nvSpPr>
          <p:cNvPr id="112" name="Управляющая кнопка: &quot;Пустой&quot; 111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E72547BD-0106-A541-9674-700C19EC4E72}"/>
              </a:ext>
            </a:extLst>
          </p:cNvPr>
          <p:cNvSpPr/>
          <p:nvPr/>
        </p:nvSpPr>
        <p:spPr>
          <a:xfrm>
            <a:off x="296393" y="1675641"/>
            <a:ext cx="4099033" cy="28125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ER-</a:t>
            </a:r>
            <a:r>
              <a:rPr lang="ru-RU" sz="1600" dirty="0">
                <a:solidFill>
                  <a:schemeClr val="tx1"/>
                </a:solidFill>
              </a:rPr>
              <a:t>модель базы данных</a:t>
            </a:r>
          </a:p>
        </p:txBody>
      </p:sp>
      <p:sp>
        <p:nvSpPr>
          <p:cNvPr id="113" name="Управляющая кнопка: &quot;Пустой&quot; 112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6924BD02-4356-3AB2-E6B7-D61856D63805}"/>
              </a:ext>
            </a:extLst>
          </p:cNvPr>
          <p:cNvSpPr/>
          <p:nvPr/>
        </p:nvSpPr>
        <p:spPr>
          <a:xfrm>
            <a:off x="296393" y="1930371"/>
            <a:ext cx="3386432" cy="28125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</a:rPr>
              <a:t>Запросы по работе с данными</a:t>
            </a:r>
          </a:p>
        </p:txBody>
      </p:sp>
      <p:sp>
        <p:nvSpPr>
          <p:cNvPr id="114" name="Управляющая кнопка: &quot;Пустой&quot; 113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93DC1943-8AD8-9249-0362-9AFD78B8802B}"/>
              </a:ext>
            </a:extLst>
          </p:cNvPr>
          <p:cNvSpPr/>
          <p:nvPr/>
        </p:nvSpPr>
        <p:spPr>
          <a:xfrm>
            <a:off x="296393" y="2175408"/>
            <a:ext cx="4187320" cy="28125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</a:rPr>
              <a:t>Хранимые процедуры и функции</a:t>
            </a:r>
          </a:p>
        </p:txBody>
      </p:sp>
      <p:sp>
        <p:nvSpPr>
          <p:cNvPr id="115" name="Управляющая кнопка: &quot;Пустой&quot; 114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AE6A3078-F7E1-D42A-96E0-54B238C558FF}"/>
              </a:ext>
            </a:extLst>
          </p:cNvPr>
          <p:cNvSpPr/>
          <p:nvPr/>
        </p:nvSpPr>
        <p:spPr>
          <a:xfrm>
            <a:off x="284411" y="2458016"/>
            <a:ext cx="1172953" cy="28125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</a:rPr>
              <a:t>Триггеры</a:t>
            </a:r>
          </a:p>
        </p:txBody>
      </p:sp>
      <p:sp>
        <p:nvSpPr>
          <p:cNvPr id="116" name="Управляющая кнопка: &quot;Пустой&quot; 115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09B7E4BE-093B-6C92-5553-DA05AA642538}"/>
              </a:ext>
            </a:extLst>
          </p:cNvPr>
          <p:cNvSpPr/>
          <p:nvPr/>
        </p:nvSpPr>
        <p:spPr>
          <a:xfrm>
            <a:off x="296393" y="2712746"/>
            <a:ext cx="2934906" cy="28125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</a:rPr>
              <a:t>Пользователи и исключения</a:t>
            </a:r>
          </a:p>
        </p:txBody>
      </p:sp>
      <p:sp>
        <p:nvSpPr>
          <p:cNvPr id="117" name="Управляющая кнопка: &quot;Пустой&quot; 116">
            <a:hlinkClick r:id="rId12" action="ppaction://hlinksldjump" highlightClick="1"/>
            <a:extLst>
              <a:ext uri="{FF2B5EF4-FFF2-40B4-BE49-F238E27FC236}">
                <a16:creationId xmlns:a16="http://schemas.microsoft.com/office/drawing/2014/main" id="{97D9B4EC-B555-4D08-A771-407F89FF52D4}"/>
              </a:ext>
            </a:extLst>
          </p:cNvPr>
          <p:cNvSpPr/>
          <p:nvPr/>
        </p:nvSpPr>
        <p:spPr>
          <a:xfrm>
            <a:off x="308375" y="2967476"/>
            <a:ext cx="3778047" cy="28125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</a:rPr>
              <a:t>Проектирование </a:t>
            </a:r>
            <a:r>
              <a:rPr lang="ru-RU" sz="1600" dirty="0" err="1">
                <a:solidFill>
                  <a:schemeClr val="tx1"/>
                </a:solidFill>
              </a:rPr>
              <a:t>графовой</a:t>
            </a:r>
            <a:r>
              <a:rPr lang="ru-RU" sz="1600" dirty="0">
                <a:solidFill>
                  <a:schemeClr val="tx1"/>
                </a:solidFill>
              </a:rPr>
              <a:t> базы данных</a:t>
            </a:r>
          </a:p>
        </p:txBody>
      </p:sp>
      <p:sp>
        <p:nvSpPr>
          <p:cNvPr id="118" name="Управляющая кнопка: &quot;Пустой&quot; 117">
            <a:hlinkClick r:id="rId13" action="ppaction://hlinksldjump" highlightClick="1"/>
            <a:extLst>
              <a:ext uri="{FF2B5EF4-FFF2-40B4-BE49-F238E27FC236}">
                <a16:creationId xmlns:a16="http://schemas.microsoft.com/office/drawing/2014/main" id="{4D851D8A-E929-E4D8-8CE8-7DBFB7C66E53}"/>
              </a:ext>
            </a:extLst>
          </p:cNvPr>
          <p:cNvSpPr/>
          <p:nvPr/>
        </p:nvSpPr>
        <p:spPr>
          <a:xfrm>
            <a:off x="308375" y="3220510"/>
            <a:ext cx="3778047" cy="28125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</a:rPr>
              <a:t>Запросы к </a:t>
            </a:r>
            <a:r>
              <a:rPr lang="ru-RU" sz="1600" dirty="0" err="1">
                <a:solidFill>
                  <a:schemeClr val="tx1"/>
                </a:solidFill>
              </a:rPr>
              <a:t>графовой</a:t>
            </a:r>
            <a:r>
              <a:rPr lang="ru-RU" sz="1600" dirty="0">
                <a:solidFill>
                  <a:schemeClr val="tx1"/>
                </a:solidFill>
              </a:rPr>
              <a:t> базе данных</a:t>
            </a:r>
          </a:p>
        </p:txBody>
      </p:sp>
      <p:sp>
        <p:nvSpPr>
          <p:cNvPr id="119" name="Управляющая кнопка: &quot;Пустой&quot; 118">
            <a:hlinkClick r:id="rId14" action="ppaction://hlinksldjump" highlightClick="1"/>
            <a:extLst>
              <a:ext uri="{FF2B5EF4-FFF2-40B4-BE49-F238E27FC236}">
                <a16:creationId xmlns:a16="http://schemas.microsoft.com/office/drawing/2014/main" id="{8BF36ED5-3A1C-481D-8E9D-8D42487422F8}"/>
              </a:ext>
            </a:extLst>
          </p:cNvPr>
          <p:cNvSpPr/>
          <p:nvPr/>
        </p:nvSpPr>
        <p:spPr>
          <a:xfrm>
            <a:off x="308375" y="3447017"/>
            <a:ext cx="3778047" cy="28125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</a:rPr>
              <a:t>Анализ и аналитика данных</a:t>
            </a:r>
          </a:p>
        </p:txBody>
      </p:sp>
      <p:sp>
        <p:nvSpPr>
          <p:cNvPr id="120" name="Управляющая кнопка: &quot;Пустой&quot; 119">
            <a:hlinkClick r:id="rId15" action="ppaction://hlinksldjump" highlightClick="1"/>
            <a:extLst>
              <a:ext uri="{FF2B5EF4-FFF2-40B4-BE49-F238E27FC236}">
                <a16:creationId xmlns:a16="http://schemas.microsoft.com/office/drawing/2014/main" id="{74509469-A28B-08D8-5F73-7CDD0ACEC2C8}"/>
              </a:ext>
            </a:extLst>
          </p:cNvPr>
          <p:cNvSpPr/>
          <p:nvPr/>
        </p:nvSpPr>
        <p:spPr>
          <a:xfrm>
            <a:off x="308375" y="3694786"/>
            <a:ext cx="3778047" cy="28125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 err="1">
                <a:solidFill>
                  <a:schemeClr val="tx1"/>
                </a:solidFill>
              </a:rPr>
              <a:t>Дашборд</a:t>
            </a:r>
            <a:r>
              <a:rPr lang="ru-RU" sz="1600" dirty="0">
                <a:solidFill>
                  <a:schemeClr val="tx1"/>
                </a:solidFill>
              </a:rPr>
              <a:t> — Управление складом</a:t>
            </a:r>
          </a:p>
        </p:txBody>
      </p:sp>
      <p:sp>
        <p:nvSpPr>
          <p:cNvPr id="121" name="Управляющая кнопка: &quot;Пустой&quot; 120">
            <a:hlinkClick r:id="rId16" action="ppaction://hlinksldjump" highlightClick="1"/>
            <a:extLst>
              <a:ext uri="{FF2B5EF4-FFF2-40B4-BE49-F238E27FC236}">
                <a16:creationId xmlns:a16="http://schemas.microsoft.com/office/drawing/2014/main" id="{F6427B03-1331-A11D-9153-22ABB9024751}"/>
              </a:ext>
            </a:extLst>
          </p:cNvPr>
          <p:cNvSpPr/>
          <p:nvPr/>
        </p:nvSpPr>
        <p:spPr>
          <a:xfrm>
            <a:off x="308375" y="3960717"/>
            <a:ext cx="3778047" cy="28125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</a:rPr>
              <a:t>Работа с параметрами и расчётами</a:t>
            </a:r>
          </a:p>
        </p:txBody>
      </p:sp>
      <p:sp>
        <p:nvSpPr>
          <p:cNvPr id="122" name="Управляющая кнопка: &quot;Пустой&quot; 12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288274F-C948-B2B4-7678-26E7EA51E810}"/>
              </a:ext>
            </a:extLst>
          </p:cNvPr>
          <p:cNvSpPr/>
          <p:nvPr/>
        </p:nvSpPr>
        <p:spPr>
          <a:xfrm>
            <a:off x="308375" y="4219114"/>
            <a:ext cx="3778047" cy="28125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</a:rPr>
              <a:t>Заключение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00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Постановка задачи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82880" y="77724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</a:rPr>
              <a:t>Предметная область: Управление складом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" y="10972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100" i="1" dirty="0">
                <a:solidFill>
                  <a:srgbClr val="5A6A7A"/>
                </a:solidFill>
              </a:rPr>
              <a:t>Описание проблемы: В условиях роста объёмов заказов ручное управление складскими операциями приводит к пересортице при комплектации, задержкам в оформлении документов и отсутствию оперативного контроля над остатками товаров.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" y="169164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004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1A2B4A"/>
                </a:solidFill>
              </a:rPr>
              <a:t>Цель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" y="2075688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u-RU" sz="1100" dirty="0">
                <a:solidFill>
                  <a:srgbClr val="5A6A7A"/>
                </a:solidFill>
              </a:rPr>
              <a:t>Спроектировать и разработать БД и диаграммы для предметной области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4206240" cy="33421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5488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1A2B4A"/>
                </a:solidFill>
              </a:rPr>
              <a:t>Задачи 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54880" y="2075688"/>
            <a:ext cx="3931920" cy="28746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u-RU" sz="1100" dirty="0">
                <a:solidFill>
                  <a:srgbClr val="5A6A7A"/>
                </a:solidFill>
              </a:rPr>
              <a:t>Для достижения поставленной цели система должна решать следующие задачи, распределённые по ролям: </a:t>
            </a:r>
          </a:p>
          <a:p>
            <a:pPr marL="0" indent="0">
              <a:buNone/>
            </a:pPr>
            <a:r>
              <a:rPr lang="ru-RU" sz="1100" dirty="0">
                <a:solidFill>
                  <a:srgbClr val="5A6A7A"/>
                </a:solidFill>
              </a:rPr>
              <a:t>Для Клиентов: Обеспечение оформления и передачи документа «Заказ клиента» с перечнем товаров, количеством и пожеланиями по срокам доставки.</a:t>
            </a:r>
          </a:p>
          <a:p>
            <a:pPr marL="0" indent="0">
              <a:buNone/>
            </a:pPr>
            <a:r>
              <a:rPr lang="ru-RU" sz="1100" dirty="0">
                <a:solidFill>
                  <a:srgbClr val="5A6A7A"/>
                </a:solidFill>
              </a:rPr>
              <a:t>Для Менеджера по работе с клиентами: Регистрация и согласование входящих заказов клиентов.</a:t>
            </a:r>
          </a:p>
          <a:p>
            <a:pPr marL="0" indent="0">
              <a:buNone/>
            </a:pPr>
            <a:r>
              <a:rPr lang="ru-RU" sz="1100" dirty="0">
                <a:solidFill>
                  <a:srgbClr val="5A6A7A"/>
                </a:solidFill>
              </a:rPr>
              <a:t>Для Менеджера склада: Управление процессами приёмки товаров от поставщиков и размещения по складским ячейкам.</a:t>
            </a:r>
          </a:p>
          <a:p>
            <a:pPr marL="0" indent="0">
              <a:buNone/>
            </a:pPr>
            <a:r>
              <a:rPr lang="ru-RU" sz="1100" dirty="0">
                <a:solidFill>
                  <a:srgbClr val="5A6A7A"/>
                </a:solidFill>
              </a:rPr>
              <a:t>Для Сотрудника склада: Сбор товаров по листу комплектации со складских мест.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82880" y="3291840"/>
            <a:ext cx="4206240" cy="17419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20040" y="3383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1A2B4A"/>
                </a:solidFill>
              </a:rPr>
              <a:t>Ожидаемый результат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20040" y="3675888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u-RU" sz="1100" dirty="0">
                <a:solidFill>
                  <a:srgbClr val="5A6A7A"/>
                </a:solidFill>
              </a:rPr>
              <a:t>Полное описание предметной области с диаграммами. База данных с 1000+ записями для дальнейшего использования.</a:t>
            </a:r>
            <a:endParaRPr lang="en-US" sz="1100" dirty="0"/>
          </a:p>
        </p:txBody>
      </p:sp>
      <p:sp>
        <p:nvSpPr>
          <p:cNvPr id="21" name="Управляющая кнопка: &quot;Пустой&quot; 2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0B848513-8F06-83E0-BE95-E500BF927F93}"/>
              </a:ext>
            </a:extLst>
          </p:cNvPr>
          <p:cNvSpPr/>
          <p:nvPr/>
        </p:nvSpPr>
        <p:spPr>
          <a:xfrm>
            <a:off x="6678273" y="109728"/>
            <a:ext cx="2301135" cy="45720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 содержанию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00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Функциональный анализ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751974"/>
            <a:ext cx="8686800" cy="4281797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0" name="Text 7"/>
          <p:cNvSpPr/>
          <p:nvPr/>
        </p:nvSpPr>
        <p:spPr>
          <a:xfrm>
            <a:off x="2423160" y="6297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Диаграмма вариантов использования</a:t>
            </a:r>
            <a:endParaRPr lang="en-US" sz="13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F412408-97B9-E125-491B-782A73B65F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176" y="936912"/>
            <a:ext cx="5643521" cy="4044268"/>
          </a:xfrm>
          <a:prstGeom prst="rect">
            <a:avLst/>
          </a:prstGeom>
        </p:spPr>
      </p:pic>
      <p:sp>
        <p:nvSpPr>
          <p:cNvPr id="16" name="Text 7">
            <a:extLst>
              <a:ext uri="{FF2B5EF4-FFF2-40B4-BE49-F238E27FC236}">
                <a16:creationId xmlns:a16="http://schemas.microsoft.com/office/drawing/2014/main" id="{2FA8AFE5-E1F3-6994-9E29-C88E766962F7}"/>
              </a:ext>
            </a:extLst>
          </p:cNvPr>
          <p:cNvSpPr/>
          <p:nvPr/>
        </p:nvSpPr>
        <p:spPr>
          <a:xfrm>
            <a:off x="2423160" y="6297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300" b="1" dirty="0">
                <a:solidFill>
                  <a:srgbClr val="FFFFFF"/>
                </a:solidFill>
              </a:rPr>
              <a:t>Дерево функций</a:t>
            </a:r>
            <a:endParaRPr lang="en-US" sz="13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A178F4C-254C-0403-F431-1DE9A4B86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952" y="996140"/>
            <a:ext cx="1967413" cy="3925812"/>
          </a:xfrm>
          <a:prstGeom prst="rect">
            <a:avLst/>
          </a:prstGeom>
        </p:spPr>
      </p:pic>
      <p:sp>
        <p:nvSpPr>
          <p:cNvPr id="18" name="Text 7">
            <a:extLst>
              <a:ext uri="{FF2B5EF4-FFF2-40B4-BE49-F238E27FC236}">
                <a16:creationId xmlns:a16="http://schemas.microsoft.com/office/drawing/2014/main" id="{1B749412-FC7B-FA39-B088-A181C467FAA4}"/>
              </a:ext>
            </a:extLst>
          </p:cNvPr>
          <p:cNvSpPr/>
          <p:nvPr/>
        </p:nvSpPr>
        <p:spPr>
          <a:xfrm>
            <a:off x="2399096" y="61036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300" b="1" dirty="0">
                <a:solidFill>
                  <a:schemeClr val="bg1"/>
                </a:solidFill>
              </a:rPr>
              <a:t>таблица входных выходных данных</a:t>
            </a:r>
            <a:endParaRPr lang="en-US" sz="1300" b="1" dirty="0">
              <a:solidFill>
                <a:schemeClr val="bg1"/>
              </a:solidFill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DE2CD7E-D365-7343-93EA-66E85192BA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030" y="1430756"/>
            <a:ext cx="4074906" cy="271660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1A3A6D9-5D52-31F9-DE52-E0FBB17F80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6066" y="1989379"/>
            <a:ext cx="4273614" cy="200448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2B128AA-094C-1267-32FB-7722F49613DE}"/>
              </a:ext>
            </a:extLst>
          </p:cNvPr>
          <p:cNvSpPr txBox="1"/>
          <p:nvPr/>
        </p:nvSpPr>
        <p:spPr>
          <a:xfrm>
            <a:off x="2108658" y="656164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3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органиограмма</a:t>
            </a:r>
            <a:endParaRPr lang="ru-RU" sz="1300" b="1" dirty="0">
              <a:solidFill>
                <a:schemeClr val="bg1"/>
              </a:solidFill>
            </a:endParaRP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2309C72-646E-6600-8F95-C167F8E714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6439" y="994350"/>
            <a:ext cx="4162993" cy="3869253"/>
          </a:xfrm>
          <a:prstGeom prst="rect">
            <a:avLst/>
          </a:prstGeom>
        </p:spPr>
      </p:pic>
      <p:sp>
        <p:nvSpPr>
          <p:cNvPr id="27" name="Управляющая кнопка: &quot;Пустой&quot; 26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D99A282C-7138-8A6E-1504-A288A173265C}"/>
              </a:ext>
            </a:extLst>
          </p:cNvPr>
          <p:cNvSpPr/>
          <p:nvPr/>
        </p:nvSpPr>
        <p:spPr>
          <a:xfrm>
            <a:off x="6678273" y="109728"/>
            <a:ext cx="2301135" cy="45720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 содержанию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16" grpId="1" animBg="1"/>
      <p:bldP spid="18" grpId="0" animBg="1"/>
      <p:bldP spid="18" grpId="1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00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Технология UML — </a:t>
            </a:r>
            <a:r>
              <a:rPr lang="en-US" sz="2200" b="1" dirty="0" err="1">
                <a:solidFill>
                  <a:srgbClr val="FFFFFF"/>
                </a:solidFill>
              </a:rPr>
              <a:t>Диаграмма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де</a:t>
            </a:r>
            <a:r>
              <a:rPr lang="ru-RU" sz="2200" b="1" dirty="0" err="1">
                <a:solidFill>
                  <a:srgbClr val="FFFFFF"/>
                </a:solidFill>
              </a:rPr>
              <a:t>йствий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82880" y="7772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Бизнес-процесс: «Обработка и комплектация заказа» (3-Обр_Комп)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170432"/>
            <a:ext cx="274320" cy="274320"/>
          </a:xfrm>
          <a:prstGeom prst="rect">
            <a:avLst/>
          </a:prstGeom>
          <a:solidFill>
            <a:srgbClr val="E8700A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170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" y="1188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</a:rPr>
              <a:t>Получение заказа от клиента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1563624"/>
            <a:ext cx="274320" cy="274320"/>
          </a:xfrm>
          <a:prstGeom prst="rect">
            <a:avLst/>
          </a:prstGeom>
          <a:solidFill>
            <a:srgbClr val="E8700A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1563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" y="19888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</a:rPr>
              <a:t>Регистрация и согласование заказа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1956816"/>
            <a:ext cx="274320" cy="274320"/>
          </a:xfrm>
          <a:prstGeom prst="rect">
            <a:avLst/>
          </a:prstGeom>
          <a:solidFill>
            <a:srgbClr val="E8700A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85800" y="1592019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</a:rPr>
              <a:t>Проверка наличия на складе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2350008"/>
            <a:ext cx="274320" cy="274320"/>
          </a:xfrm>
          <a:prstGeom prst="rect">
            <a:avLst/>
          </a:prstGeom>
          <a:solidFill>
            <a:srgbClr val="E8700A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85800" y="23682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</a:rPr>
              <a:t>Формирование листа комплектации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2743200"/>
            <a:ext cx="274320" cy="274320"/>
          </a:xfrm>
          <a:prstGeom prst="rect">
            <a:avLst/>
          </a:prstGeom>
          <a:solidFill>
            <a:srgbClr val="E8700A"/>
          </a:solidFill>
          <a:ln/>
        </p:spPr>
      </p:sp>
      <p:sp>
        <p:nvSpPr>
          <p:cNvPr id="22" name="Text 19"/>
          <p:cNvSpPr/>
          <p:nvPr/>
        </p:nvSpPr>
        <p:spPr>
          <a:xfrm>
            <a:off x="36576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85800" y="27614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</a:rPr>
              <a:t>Сбор товаров со складских мест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65760" y="3136392"/>
            <a:ext cx="274320" cy="274320"/>
          </a:xfrm>
          <a:prstGeom prst="rect">
            <a:avLst/>
          </a:prstGeom>
          <a:solidFill>
            <a:srgbClr val="E8700A"/>
          </a:solidFill>
          <a:ln/>
        </p:spPr>
      </p:sp>
      <p:sp>
        <p:nvSpPr>
          <p:cNvPr id="25" name="Text 22"/>
          <p:cNvSpPr/>
          <p:nvPr/>
        </p:nvSpPr>
        <p:spPr>
          <a:xfrm>
            <a:off x="36576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85800" y="3154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</a:rPr>
              <a:t>Проверка качества и количества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5760" y="3529584"/>
            <a:ext cx="274320" cy="274320"/>
          </a:xfrm>
          <a:prstGeom prst="rect">
            <a:avLst/>
          </a:prstGeom>
          <a:solidFill>
            <a:srgbClr val="E8700A"/>
          </a:solidFill>
          <a:ln/>
        </p:spPr>
      </p:sp>
      <p:sp>
        <p:nvSpPr>
          <p:cNvPr id="28" name="Text 25"/>
          <p:cNvSpPr/>
          <p:nvPr/>
        </p:nvSpPr>
        <p:spPr>
          <a:xfrm>
            <a:off x="36576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85800" y="35478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</a:rPr>
              <a:t>Упаковка и маркировка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65760" y="3922776"/>
            <a:ext cx="274320" cy="274320"/>
          </a:xfrm>
          <a:prstGeom prst="rect">
            <a:avLst/>
          </a:prstGeom>
          <a:solidFill>
            <a:srgbClr val="E8700A"/>
          </a:solidFill>
          <a:ln/>
        </p:spPr>
      </p:sp>
      <p:sp>
        <p:nvSpPr>
          <p:cNvPr id="31" name="Text 28"/>
          <p:cNvSpPr/>
          <p:nvPr/>
        </p:nvSpPr>
        <p:spPr>
          <a:xfrm>
            <a:off x="365760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85800" y="39410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A2B4A"/>
                </a:solidFill>
              </a:rPr>
              <a:t>Оформление</a:t>
            </a:r>
            <a:r>
              <a:rPr lang="ru-RU" sz="1000" dirty="0">
                <a:solidFill>
                  <a:srgbClr val="1A2B4A"/>
                </a:solidFill>
              </a:rPr>
              <a:t> документации</a:t>
            </a:r>
            <a:endParaRPr lang="en-US" sz="1000" dirty="0"/>
          </a:p>
        </p:txBody>
      </p:sp>
      <p:sp>
        <p:nvSpPr>
          <p:cNvPr id="36" name="Shape 27">
            <a:extLst>
              <a:ext uri="{FF2B5EF4-FFF2-40B4-BE49-F238E27FC236}">
                <a16:creationId xmlns:a16="http://schemas.microsoft.com/office/drawing/2014/main" id="{9416CBC5-FF35-B01A-E9C1-F789D5375210}"/>
              </a:ext>
            </a:extLst>
          </p:cNvPr>
          <p:cNvSpPr/>
          <p:nvPr/>
        </p:nvSpPr>
        <p:spPr>
          <a:xfrm>
            <a:off x="365760" y="4297680"/>
            <a:ext cx="274320" cy="274320"/>
          </a:xfrm>
          <a:prstGeom prst="rect">
            <a:avLst/>
          </a:prstGeom>
          <a:solidFill>
            <a:srgbClr val="E8700A"/>
          </a:solidFill>
          <a:ln/>
        </p:spPr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918A8C03-DD70-9BF8-CB92-4A4FA7092F93}"/>
              </a:ext>
            </a:extLst>
          </p:cNvPr>
          <p:cNvSpPr/>
          <p:nvPr/>
        </p:nvSpPr>
        <p:spPr>
          <a:xfrm>
            <a:off x="36576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204F3767-2496-C7AC-863D-C3B4555D6A78}"/>
              </a:ext>
            </a:extLst>
          </p:cNvPr>
          <p:cNvSpPr/>
          <p:nvPr/>
        </p:nvSpPr>
        <p:spPr>
          <a:xfrm>
            <a:off x="685800" y="4315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/>
              <a:t>Формирование накладной</a:t>
            </a:r>
            <a:endParaRPr lang="en-US" sz="1000" dirty="0"/>
          </a:p>
        </p:txBody>
      </p:sp>
      <p:sp>
        <p:nvSpPr>
          <p:cNvPr id="43" name="Text 31">
            <a:extLst>
              <a:ext uri="{FF2B5EF4-FFF2-40B4-BE49-F238E27FC236}">
                <a16:creationId xmlns:a16="http://schemas.microsoft.com/office/drawing/2014/main" id="{CC209B1F-621F-2920-D5B1-781CFDECA137}"/>
              </a:ext>
            </a:extLst>
          </p:cNvPr>
          <p:cNvSpPr/>
          <p:nvPr/>
        </p:nvSpPr>
        <p:spPr>
          <a:xfrm>
            <a:off x="2441448" y="156250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45" name="Управляющая кнопка: &quot;Пустой&quot; 44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0E526146-5127-B26A-E30E-9D04CB2EA5AA}"/>
              </a:ext>
            </a:extLst>
          </p:cNvPr>
          <p:cNvSpPr/>
          <p:nvPr/>
        </p:nvSpPr>
        <p:spPr>
          <a:xfrm>
            <a:off x="6678273" y="109728"/>
            <a:ext cx="2301135" cy="45720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 содержанию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AB3479B-2421-4245-D838-94B430944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5277" y="747606"/>
            <a:ext cx="3978723" cy="426550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00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ER-модель базы данных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394960" y="822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Основные сущности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94960" y="1188720"/>
            <a:ext cx="35661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3212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Товар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4960" y="1554480"/>
            <a:ext cx="3566160" cy="32004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3212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Поставщик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94960" y="1920240"/>
            <a:ext cx="35661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3212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Покупатель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94960" y="2286000"/>
            <a:ext cx="3566160" cy="32004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3212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Заказ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94960" y="2651760"/>
            <a:ext cx="35661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32120" y="2651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Сотрудник</a:t>
            </a:r>
            <a:endParaRPr lang="en-US" sz="1100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83F249D-D78F-E134-E663-AB8940BD6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706584"/>
            <a:ext cx="5093208" cy="4419195"/>
          </a:xfrm>
          <a:prstGeom prst="rect">
            <a:avLst/>
          </a:prstGeom>
        </p:spPr>
      </p:pic>
      <p:sp>
        <p:nvSpPr>
          <p:cNvPr id="27" name="Управляющая кнопка: &quot;Пустой&quot; 2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33C7005C-23F9-A9E0-B0AC-93350BDABF19}"/>
              </a:ext>
            </a:extLst>
          </p:cNvPr>
          <p:cNvSpPr/>
          <p:nvPr/>
        </p:nvSpPr>
        <p:spPr>
          <a:xfrm>
            <a:off x="6678273" y="109728"/>
            <a:ext cx="2301135" cy="45720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 содержанию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00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Запросы по работе с данными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617720" y="822960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822960"/>
            <a:ext cx="4206240" cy="29260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8229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</a:rPr>
              <a:t>Группировка</a:t>
            </a:r>
            <a:r>
              <a:rPr lang="ru-RU" sz="1100" b="1" dirty="0">
                <a:solidFill>
                  <a:srgbClr val="FFFFFF"/>
                </a:solidFill>
              </a:rPr>
              <a:t> — количество товаров в каждой категории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90872" y="1170432"/>
            <a:ext cx="4059936" cy="9144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5" name="Text 12"/>
          <p:cNvSpPr/>
          <p:nvPr/>
        </p:nvSpPr>
        <p:spPr>
          <a:xfrm>
            <a:off x="4727448" y="1188720"/>
            <a:ext cx="398678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c.name_category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count(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p.id_Product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product_count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Category c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Product p on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c.id_category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p.id_category</a:t>
            </a:r>
            <a:endParaRPr lang="en-US" sz="900" dirty="0">
              <a:solidFill>
                <a:srgbClr val="7EC8E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c.id_category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c.name_category</a:t>
            </a:r>
            <a:endParaRPr lang="en-US" sz="900" dirty="0">
              <a:solidFill>
                <a:srgbClr val="7EC8E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product_count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desc;</a:t>
            </a:r>
          </a:p>
        </p:txBody>
      </p:sp>
      <p:sp>
        <p:nvSpPr>
          <p:cNvPr id="16" name="Shape 13"/>
          <p:cNvSpPr/>
          <p:nvPr/>
        </p:nvSpPr>
        <p:spPr>
          <a:xfrm>
            <a:off x="182880" y="2286000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82880" y="2286000"/>
            <a:ext cx="4206240" cy="29260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" y="2286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</a:rPr>
              <a:t>Подзапрос</a:t>
            </a:r>
            <a:r>
              <a:rPr lang="ru-RU" sz="1100" b="1" dirty="0">
                <a:solidFill>
                  <a:srgbClr val="FFFFFF"/>
                </a:solidFill>
              </a:rPr>
              <a:t> — товары, цена которых выше средней цены по складу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56032" y="2633472"/>
            <a:ext cx="4059936" cy="9144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" y="2651760"/>
            <a:ext cx="398678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Name_tov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price from Product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&gt; (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avg(price) from Product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price desc;</a:t>
            </a:r>
          </a:p>
        </p:txBody>
      </p:sp>
      <p:sp>
        <p:nvSpPr>
          <p:cNvPr id="21" name="Shape 18"/>
          <p:cNvSpPr/>
          <p:nvPr/>
        </p:nvSpPr>
        <p:spPr>
          <a:xfrm>
            <a:off x="4617720" y="3688882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17720" y="3688882"/>
            <a:ext cx="4206240" cy="29260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3" name="Text 20"/>
          <p:cNvSpPr/>
          <p:nvPr/>
        </p:nvSpPr>
        <p:spPr>
          <a:xfrm>
            <a:off x="4709160" y="368888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</a:rPr>
              <a:t>Соединение</a:t>
            </a:r>
            <a:r>
              <a:rPr lang="en-US" sz="1100" b="1" dirty="0">
                <a:solidFill>
                  <a:srgbClr val="FFFFFF"/>
                </a:solidFill>
              </a:rPr>
              <a:t> </a:t>
            </a:r>
            <a:r>
              <a:rPr lang="en-US" sz="1100" b="1" dirty="0" err="1">
                <a:solidFill>
                  <a:srgbClr val="FFFFFF"/>
                </a:solidFill>
              </a:rPr>
              <a:t>таблиц</a:t>
            </a:r>
            <a:r>
              <a:rPr lang="ru-RU" sz="1100" b="1" dirty="0">
                <a:solidFill>
                  <a:srgbClr val="FFFFFF"/>
                </a:solidFill>
              </a:rPr>
              <a:t> — список всех заказов с информацией о покупателях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09160" y="4036354"/>
            <a:ext cx="4059936" cy="9144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25" name="Text 22"/>
          <p:cNvSpPr/>
          <p:nvPr/>
        </p:nvSpPr>
        <p:spPr>
          <a:xfrm>
            <a:off x="4727448" y="4054642"/>
            <a:ext cx="398678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o.Code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order_code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o.order_date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o.status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b.Buyer_name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b.number_buy</a:t>
            </a:r>
            <a:endParaRPr lang="en-US" sz="900" dirty="0">
              <a:solidFill>
                <a:srgbClr val="7EC8E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Buyers b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join Orders o on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b.id_buyers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o.id_buyers</a:t>
            </a:r>
            <a:endParaRPr lang="en-US" sz="900" dirty="0">
              <a:solidFill>
                <a:srgbClr val="7EC8E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o.order_date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desc;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A7A887E8-81C6-01C9-7B83-47885F0CF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481" y="682955"/>
            <a:ext cx="1785349" cy="1548181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A8277E9D-A7C9-D89B-B850-7BAB0A4251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6973" y="2230671"/>
            <a:ext cx="2318546" cy="1385994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B5A62CC3-018B-90BE-7F6C-CFA63F47A8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79" y="3736259"/>
            <a:ext cx="3542352" cy="1407241"/>
          </a:xfrm>
          <a:prstGeom prst="rect">
            <a:avLst/>
          </a:prstGeom>
        </p:spPr>
      </p:pic>
      <p:sp>
        <p:nvSpPr>
          <p:cNvPr id="42" name="Управляющая кнопка: &quot;Пустой&quot; 41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B2DDEEF1-5F4A-2F7A-678D-75BAF5ECA7BE}"/>
              </a:ext>
            </a:extLst>
          </p:cNvPr>
          <p:cNvSpPr/>
          <p:nvPr/>
        </p:nvSpPr>
        <p:spPr>
          <a:xfrm>
            <a:off x="6678273" y="109728"/>
            <a:ext cx="2301135" cy="45720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 содержанию</a:t>
            </a: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00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Хранимые процедуры и функции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82880" y="822960"/>
            <a:ext cx="429768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7" name="Text 4"/>
          <p:cNvSpPr/>
          <p:nvPr/>
        </p:nvSpPr>
        <p:spPr>
          <a:xfrm>
            <a:off x="182880" y="822960"/>
            <a:ext cx="429768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r>
              <a:rPr lang="en-US" sz="1200" b="1" dirty="0" err="1">
                <a:solidFill>
                  <a:srgbClr val="FFFFFF"/>
                </a:solidFill>
              </a:rPr>
              <a:t>Хранимая</a:t>
            </a:r>
            <a:r>
              <a:rPr lang="en-US" sz="1200" b="1" dirty="0">
                <a:solidFill>
                  <a:srgbClr val="FFFFFF"/>
                </a:solidFill>
              </a:rPr>
              <a:t> </a:t>
            </a:r>
            <a:r>
              <a:rPr lang="en-US" sz="1200" b="1" dirty="0" err="1">
                <a:solidFill>
                  <a:srgbClr val="FFFFFF"/>
                </a:solidFill>
              </a:rPr>
              <a:t>процедура</a:t>
            </a:r>
            <a:r>
              <a:rPr lang="ru-RU" sz="1200" b="1" dirty="0">
                <a:solidFill>
                  <a:srgbClr val="FFFFFF"/>
                </a:solidFill>
              </a:rPr>
              <a:t> — сколько совершил покупатель заказов и на какую сумму 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82880" y="1143000"/>
            <a:ext cx="4297680" cy="3017520"/>
          </a:xfrm>
          <a:prstGeom prst="rect">
            <a:avLst/>
          </a:prstGeom>
          <a:solidFill>
            <a:srgbClr val="1E2D3D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18872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//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getordercount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buyer_id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int,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order_count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int,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total_sum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decimal(15,2)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count(*) into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order_count</a:t>
            </a:r>
            <a:endParaRPr lang="en-US" sz="900" dirty="0">
              <a:solidFill>
                <a:srgbClr val="7EC8E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orders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id_buyers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buyer_id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coalesce(sum(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oi.quantity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oi.price_at_order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0) into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total_sum</a:t>
            </a:r>
            <a:endParaRPr lang="en-US" sz="900" dirty="0">
              <a:solidFill>
                <a:srgbClr val="7EC8E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orders o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join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order_items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oi on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o.id_order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oi.id_order</a:t>
            </a:r>
            <a:endParaRPr lang="en-US" sz="900" dirty="0">
              <a:solidFill>
                <a:srgbClr val="7EC8E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o.id_buyers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buyer_id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//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;</a:t>
            </a:r>
          </a:p>
        </p:txBody>
      </p:sp>
      <p:sp>
        <p:nvSpPr>
          <p:cNvPr id="10" name="Shape 7"/>
          <p:cNvSpPr/>
          <p:nvPr/>
        </p:nvSpPr>
        <p:spPr>
          <a:xfrm>
            <a:off x="4754880" y="822960"/>
            <a:ext cx="42062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822960"/>
            <a:ext cx="420624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r>
              <a:rPr lang="en-US" sz="1200" b="1" dirty="0" err="1">
                <a:solidFill>
                  <a:srgbClr val="FFFFFF"/>
                </a:solidFill>
              </a:rPr>
              <a:t>Хранимая</a:t>
            </a:r>
            <a:r>
              <a:rPr lang="en-US" sz="1200" b="1" dirty="0">
                <a:solidFill>
                  <a:srgbClr val="FFFFFF"/>
                </a:solidFill>
              </a:rPr>
              <a:t> </a:t>
            </a:r>
            <a:r>
              <a:rPr lang="en-US" sz="1200" b="1" dirty="0" err="1">
                <a:solidFill>
                  <a:srgbClr val="FFFFFF"/>
                </a:solidFill>
              </a:rPr>
              <a:t>функция</a:t>
            </a:r>
            <a:r>
              <a:rPr lang="ru-RU" sz="1200" b="1" dirty="0">
                <a:solidFill>
                  <a:srgbClr val="FFFFFF"/>
                </a:solidFill>
              </a:rPr>
              <a:t> — Общая стоимость всех товаров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143000"/>
            <a:ext cx="4206240" cy="1554480"/>
          </a:xfrm>
          <a:prstGeom prst="rect">
            <a:avLst/>
          </a:prstGeom>
          <a:solidFill>
            <a:srgbClr val="1E2D3D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1143000"/>
            <a:ext cx="4023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//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function </a:t>
            </a:r>
            <a:r>
              <a:rPr lang="en-US" sz="900" dirty="0" err="1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getwarehousetotalvalue</a:t>
            </a: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decimal(15,2)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declare </a:t>
            </a:r>
            <a:r>
              <a:rPr lang="en-US" sz="900" dirty="0" err="1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total_value</a:t>
            </a: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decimal(15,2);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sum(price * quantity) into </a:t>
            </a:r>
            <a:r>
              <a:rPr lang="en-US" sz="900" dirty="0" err="1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total_value</a:t>
            </a:r>
            <a:endParaRPr lang="en-US" sz="900" dirty="0">
              <a:solidFill>
                <a:srgbClr val="90EE9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product;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coalesce(</a:t>
            </a:r>
            <a:r>
              <a:rPr lang="en-US" sz="900" dirty="0" err="1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total_value</a:t>
            </a: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0);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//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;</a:t>
            </a:r>
          </a:p>
        </p:txBody>
      </p:sp>
      <p:sp>
        <p:nvSpPr>
          <p:cNvPr id="14" name="Shape 11"/>
          <p:cNvSpPr/>
          <p:nvPr/>
        </p:nvSpPr>
        <p:spPr>
          <a:xfrm>
            <a:off x="4754880" y="2834640"/>
            <a:ext cx="42062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2834640"/>
            <a:ext cx="420624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r>
              <a:rPr lang="en-US" sz="1200" b="1" dirty="0" err="1">
                <a:solidFill>
                  <a:srgbClr val="FFFFFF"/>
                </a:solidFill>
              </a:rPr>
              <a:t>Представление</a:t>
            </a:r>
            <a:r>
              <a:rPr lang="en-US" sz="1200" b="1" dirty="0">
                <a:solidFill>
                  <a:srgbClr val="FFFFFF"/>
                </a:solidFill>
              </a:rPr>
              <a:t> </a:t>
            </a:r>
            <a:r>
              <a:rPr lang="ru-RU" sz="1200" b="1" dirty="0">
                <a:solidFill>
                  <a:srgbClr val="FFFFFF"/>
                </a:solidFill>
              </a:rPr>
              <a:t>— Анализ продаж по категориям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3154679"/>
            <a:ext cx="4206240" cy="1916631"/>
          </a:xfrm>
          <a:prstGeom prst="rect">
            <a:avLst/>
          </a:prstGeom>
          <a:solidFill>
            <a:srgbClr val="1E2D3D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3182112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v_sales_by_category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</a:t>
            </a:r>
          </a:p>
          <a:p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</a:p>
          <a:p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c.name_category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'</a:t>
            </a:r>
            <a:r>
              <a:rPr lang="ru-RU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категория',</a:t>
            </a:r>
          </a:p>
          <a:p>
            <a:r>
              <a:rPr lang="ru-RU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count(distinct 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p.id_product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'</a:t>
            </a:r>
            <a:r>
              <a:rPr lang="ru-RU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товаров в категории',</a:t>
            </a:r>
          </a:p>
          <a:p>
            <a:r>
              <a:rPr lang="ru-RU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count(distinct 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oi.id_order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'</a:t>
            </a:r>
            <a:r>
              <a:rPr lang="ru-RU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заказов',</a:t>
            </a:r>
          </a:p>
          <a:p>
            <a:r>
              <a:rPr lang="ru-RU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oi.quantity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'</a:t>
            </a:r>
            <a:r>
              <a:rPr lang="ru-RU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продано единиц',</a:t>
            </a:r>
          </a:p>
          <a:p>
            <a:r>
              <a:rPr lang="ru-RU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oi.quantity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oi.price_at_order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'</a:t>
            </a:r>
            <a:r>
              <a:rPr lang="ru-RU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общая выручка',</a:t>
            </a:r>
          </a:p>
          <a:p>
            <a:r>
              <a:rPr lang="ru-RU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oi.price_at_order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'</a:t>
            </a:r>
            <a:r>
              <a:rPr lang="ru-RU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средняя цена продажи'</a:t>
            </a:r>
          </a:p>
          <a:p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category c</a:t>
            </a:r>
          </a:p>
          <a:p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product p on 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c.id_category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p.id_category</a:t>
            </a:r>
            <a:endParaRPr lang="en-US" sz="900" dirty="0">
              <a:solidFill>
                <a:srgbClr val="FFD58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order_items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oi on 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p.id_product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oi.id_product</a:t>
            </a:r>
            <a:endParaRPr lang="en-US" sz="900" dirty="0">
              <a:solidFill>
                <a:srgbClr val="FFD58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c.id_category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c.name_category</a:t>
            </a:r>
            <a:endParaRPr lang="en-US" sz="900" dirty="0">
              <a:solidFill>
                <a:srgbClr val="FFD58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sum(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oi.quantity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oi.price_at_order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desc;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4C6DDF4-41DB-8F6F-02C8-852D38F2B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218799"/>
            <a:ext cx="2407519" cy="77492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09497BC-D44C-6C02-FFE4-06FF084696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176337"/>
            <a:ext cx="1971675" cy="73342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0F8E38E-A586-7508-BAB5-5DFA130D57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39132"/>
            <a:ext cx="4106560" cy="1456062"/>
          </a:xfrm>
          <a:prstGeom prst="rect">
            <a:avLst/>
          </a:prstGeom>
        </p:spPr>
      </p:pic>
      <p:sp>
        <p:nvSpPr>
          <p:cNvPr id="22" name="Управляющая кнопка: &quot;Пустой&quot; 21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89CFF386-C309-0D29-240F-38400975FCBD}"/>
              </a:ext>
            </a:extLst>
          </p:cNvPr>
          <p:cNvSpPr/>
          <p:nvPr/>
        </p:nvSpPr>
        <p:spPr>
          <a:xfrm>
            <a:off x="6678273" y="109728"/>
            <a:ext cx="2301135" cy="45720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 содержанию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00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Триггеры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5486400" y="822960"/>
            <a:ext cx="347472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0" y="822960"/>
            <a:ext cx="347472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Пример</a:t>
            </a:r>
            <a:r>
              <a:rPr lang="en-US" sz="1200" b="1" dirty="0">
                <a:solidFill>
                  <a:srgbClr val="FFFFFF"/>
                </a:solidFill>
              </a:rPr>
              <a:t> </a:t>
            </a:r>
            <a:r>
              <a:rPr lang="en-US" sz="1200" b="1" dirty="0" err="1">
                <a:solidFill>
                  <a:srgbClr val="FFFFFF"/>
                </a:solidFill>
              </a:rPr>
              <a:t>триггера</a:t>
            </a:r>
            <a:r>
              <a:rPr lang="ru-RU" sz="1200" b="1" dirty="0">
                <a:solidFill>
                  <a:srgbClr val="FFFFFF"/>
                </a:solidFill>
              </a:rPr>
              <a:t> — Контроль изменения цены (предупреждение о большой разнице)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0" y="1143000"/>
            <a:ext cx="3474720" cy="3657600"/>
          </a:xfrm>
          <a:prstGeom prst="rect">
            <a:avLst/>
          </a:prstGeom>
          <a:solidFill>
            <a:srgbClr val="1E2D3D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0" y="1170432"/>
            <a:ext cx="33375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DEFINER=`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root`@`localhost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 TRIGGER `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check_price_change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 BEFORE UPDATE ON `product` FOR EACH ROW begin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declare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price_diff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decimal(10,2);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price_diff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abs(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new.price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old.price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price_diff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old.price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0.5 then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insert into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operation_logs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operation_type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table_name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record_id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description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values (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'update',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'product',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new.id_product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</a:t>
            </a:r>
            <a:r>
              <a:rPr lang="ru-RU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внимание! резкое изменение цены: ',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old.price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' → ',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new.price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if;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31ECF1C8-EFEE-CA01-97E3-8E3D06A2A4B8}"/>
              </a:ext>
            </a:extLst>
          </p:cNvPr>
          <p:cNvSpPr/>
          <p:nvPr/>
        </p:nvSpPr>
        <p:spPr>
          <a:xfrm>
            <a:off x="164592" y="781812"/>
            <a:ext cx="347472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A4535ABC-5606-077E-7EBB-E3282C9CC84B}"/>
              </a:ext>
            </a:extLst>
          </p:cNvPr>
          <p:cNvSpPr/>
          <p:nvPr/>
        </p:nvSpPr>
        <p:spPr>
          <a:xfrm>
            <a:off x="164592" y="781812"/>
            <a:ext cx="3474720" cy="320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Пример</a:t>
            </a:r>
            <a:r>
              <a:rPr lang="en-US" sz="1200" b="1" dirty="0">
                <a:solidFill>
                  <a:srgbClr val="FFFFFF"/>
                </a:solidFill>
              </a:rPr>
              <a:t> </a:t>
            </a:r>
            <a:r>
              <a:rPr lang="en-US" sz="1200" b="1" dirty="0" err="1">
                <a:solidFill>
                  <a:srgbClr val="FFFFFF"/>
                </a:solidFill>
              </a:rPr>
              <a:t>триггера</a:t>
            </a:r>
            <a:r>
              <a:rPr lang="ru-RU" sz="1200" b="1" dirty="0">
                <a:solidFill>
                  <a:srgbClr val="FFFFFF"/>
                </a:solidFill>
              </a:rPr>
              <a:t> — Автоматическое обновление рейтинга поставщика</a:t>
            </a:r>
            <a:endParaRPr lang="en-US" sz="1200" dirty="0"/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73C94D6D-51F3-8EFD-7FC9-05DFFF6768DD}"/>
              </a:ext>
            </a:extLst>
          </p:cNvPr>
          <p:cNvSpPr/>
          <p:nvPr/>
        </p:nvSpPr>
        <p:spPr>
          <a:xfrm>
            <a:off x="164592" y="1101852"/>
            <a:ext cx="3474720" cy="3657600"/>
          </a:xfrm>
          <a:prstGeom prst="rect">
            <a:avLst/>
          </a:prstGeom>
          <a:solidFill>
            <a:srgbClr val="1E2D3D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9E882DD6-EBCA-B129-752D-5D8180C378E8}"/>
              </a:ext>
            </a:extLst>
          </p:cNvPr>
          <p:cNvSpPr/>
          <p:nvPr/>
        </p:nvSpPr>
        <p:spPr>
          <a:xfrm>
            <a:off x="256032" y="1129284"/>
            <a:ext cx="33375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DEFINER=`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root`@`localhost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 TRIGGER `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update_supplier_rating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 AFTER INSERT ON `product` FOR EACH ROW begin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declare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product_count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declare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new_rating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decimal(3,2);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count(*) into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product_count</a:t>
            </a:r>
            <a:endParaRPr lang="en-US" sz="850" dirty="0">
              <a:solidFill>
                <a:srgbClr val="7EC8E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product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id_supplier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new.id_supplier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new_rating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least(10.0, 5.0 + (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product_count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0.5));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 supplier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rating =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new_rating</a:t>
            </a:r>
            <a:endParaRPr lang="en-US" sz="850" dirty="0">
              <a:solidFill>
                <a:srgbClr val="7EC8E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id_supplier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new.id_supplier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5D27BD7D-71F0-1BF1-1B0C-946549B51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79" y="3053691"/>
            <a:ext cx="3456433" cy="410056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458595E4-CAD7-7E35-E54D-0E463CFCC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" y="3694927"/>
            <a:ext cx="3456432" cy="455967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D83391A1-59D0-AEE7-2BD1-6CD9ACED83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5545" y="4000500"/>
            <a:ext cx="3456430" cy="400634"/>
          </a:xfrm>
          <a:prstGeom prst="rect">
            <a:avLst/>
          </a:prstGeom>
        </p:spPr>
      </p:pic>
      <p:sp>
        <p:nvSpPr>
          <p:cNvPr id="35" name="Управляющая кнопка: &quot;Пустой&quot; 34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57DCF008-0FB7-ADCA-0E69-2CA234491F94}"/>
              </a:ext>
            </a:extLst>
          </p:cNvPr>
          <p:cNvSpPr/>
          <p:nvPr/>
        </p:nvSpPr>
        <p:spPr>
          <a:xfrm>
            <a:off x="6678273" y="109728"/>
            <a:ext cx="2301135" cy="45720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 содержанию</a:t>
            </a: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00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Пользователи и исключения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82880" y="8229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Группы пользователей и права доступа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60845" y="1280160"/>
            <a:ext cx="2926561" cy="3708132"/>
          </a:xfrm>
          <a:prstGeom prst="rect">
            <a:avLst/>
          </a:prstGeom>
          <a:solidFill>
            <a:srgbClr val="1E2D3D"/>
          </a:solidFill>
          <a:ln w="12700">
            <a:solidFill>
              <a:srgbClr val="2E406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2" name="Text 23">
            <a:extLst>
              <a:ext uri="{FF2B5EF4-FFF2-40B4-BE49-F238E27FC236}">
                <a16:creationId xmlns:a16="http://schemas.microsoft.com/office/drawing/2014/main" id="{769E0525-42D8-2CC6-1F8A-B12164FA910A}"/>
              </a:ext>
            </a:extLst>
          </p:cNvPr>
          <p:cNvSpPr/>
          <p:nvPr/>
        </p:nvSpPr>
        <p:spPr>
          <a:xfrm>
            <a:off x="319438" y="1371601"/>
            <a:ext cx="2809374" cy="307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USER '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manager_client'@'localhost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IDENTIFIED BY 'Pass123!';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warehouse.supplier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'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manager_client'@'localhost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warehouse.category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'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manager_client'@'localhost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warehouse.product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'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manager_client'@'localhost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SELECT, INSERT, UPDATE, DELETE ON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warehouse.buyers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'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manager_client'@'localhost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warehouse.position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'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manager_client'@'localhost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warehouse.employees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'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manager_client'@'localhost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SELECT, INSERT, UPDATE, DELETE ON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warehouse.orders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'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manager_client'@'localhost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SELECT, INSERT, UPDATE, DELETE ON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warehouse.order_items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'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manager_client'@'localhost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warehouse.price_history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'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manager_client'@'localhost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warehouse.operation_logs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'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manager_client'@'localhost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 PRIVILEGES;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A5C360B-89D6-1D8A-D7E7-9CF32A142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3349" y="776011"/>
            <a:ext cx="4906494" cy="1438562"/>
          </a:xfrm>
          <a:prstGeom prst="rect">
            <a:avLst/>
          </a:prstGeom>
        </p:spPr>
      </p:pic>
      <p:sp>
        <p:nvSpPr>
          <p:cNvPr id="14" name="Shape 5">
            <a:extLst>
              <a:ext uri="{FF2B5EF4-FFF2-40B4-BE49-F238E27FC236}">
                <a16:creationId xmlns:a16="http://schemas.microsoft.com/office/drawing/2014/main" id="{F701BA0E-18DE-B05F-CD12-748A5DBF5260}"/>
              </a:ext>
            </a:extLst>
          </p:cNvPr>
          <p:cNvSpPr/>
          <p:nvPr/>
        </p:nvSpPr>
        <p:spPr>
          <a:xfrm>
            <a:off x="3754010" y="2447985"/>
            <a:ext cx="4405172" cy="2339379"/>
          </a:xfrm>
          <a:prstGeom prst="rect">
            <a:avLst/>
          </a:prstGeom>
          <a:solidFill>
            <a:srgbClr val="1E2D3D"/>
          </a:solidFill>
          <a:ln w="12700">
            <a:solidFill>
              <a:srgbClr val="2E406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5" name="Text 23">
            <a:extLst>
              <a:ext uri="{FF2B5EF4-FFF2-40B4-BE49-F238E27FC236}">
                <a16:creationId xmlns:a16="http://schemas.microsoft.com/office/drawing/2014/main" id="{10B0922C-1EE6-704B-F3B1-A0D08C5667F5}"/>
              </a:ext>
            </a:extLst>
          </p:cNvPr>
          <p:cNvSpPr/>
          <p:nvPr/>
        </p:nvSpPr>
        <p:spPr>
          <a:xfrm>
            <a:off x="3844089" y="2496553"/>
            <a:ext cx="4235115" cy="22138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USER '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warehouse_worker'@'localhost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IDENTIFIED BY 'Worker123!';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warehouse.supplier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'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warehouse_worker'@'localhost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warehouse.category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'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rehouse_worker'@'localhost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warehouse.product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'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warehouse_worker'@'localhost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warehouse.buyers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'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warehouse_worker'@'localhost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warehouse.orders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'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warehouse_worker'@'localhost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warehouse.order_items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'</a:t>
            </a:r>
            <a:r>
              <a:rPr lang="en-US" sz="85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warehouse_worker'@'localhost</a:t>
            </a: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 PRIVILEGES;</a:t>
            </a:r>
          </a:p>
        </p:txBody>
      </p:sp>
      <p:sp>
        <p:nvSpPr>
          <p:cNvPr id="17" name="Управляющая кнопка: &quot;Пустой&quot; 1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CB536914-8930-8BC7-E76C-ACCC4F38E395}"/>
              </a:ext>
            </a:extLst>
          </p:cNvPr>
          <p:cNvSpPr/>
          <p:nvPr/>
        </p:nvSpPr>
        <p:spPr>
          <a:xfrm>
            <a:off x="6678273" y="109728"/>
            <a:ext cx="2301135" cy="45720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 содержанию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9A10883-2FBB-2E00-B5AC-30CC46115883}"/>
              </a:ext>
            </a:extLst>
          </p:cNvPr>
          <p:cNvSpPr/>
          <p:nvPr/>
        </p:nvSpPr>
        <p:spPr>
          <a:xfrm>
            <a:off x="260844" y="1280160"/>
            <a:ext cx="2926561" cy="3708132"/>
          </a:xfrm>
          <a:prstGeom prst="rect">
            <a:avLst/>
          </a:prstGeom>
          <a:solidFill>
            <a:srgbClr val="1E2D3D"/>
          </a:solidFill>
          <a:ln w="12700">
            <a:solidFill>
              <a:srgbClr val="2E406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0" name="Text 23">
            <a:extLst>
              <a:ext uri="{FF2B5EF4-FFF2-40B4-BE49-F238E27FC236}">
                <a16:creationId xmlns:a16="http://schemas.microsoft.com/office/drawing/2014/main" id="{BFBF04C9-B8A5-F3D2-FCF5-1C9FF71D609D}"/>
              </a:ext>
            </a:extLst>
          </p:cNvPr>
          <p:cNvSpPr/>
          <p:nvPr/>
        </p:nvSpPr>
        <p:spPr>
          <a:xfrm>
            <a:off x="319437" y="1371600"/>
            <a:ext cx="2809374" cy="3553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//</a:t>
            </a:r>
          </a:p>
          <a:p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2_found_table_product(IN </a:t>
            </a:r>
            <a:r>
              <a:rPr lang="en-US" sz="7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table_name</a:t>
            </a: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VARCHAR(64))</a:t>
            </a:r>
          </a:p>
          <a:p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</a:p>
          <a:p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DECLARE </a:t>
            </a:r>
            <a:r>
              <a:rPr lang="en-US" sz="7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table_exists</a:t>
            </a: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 DEFAULT 0;</a:t>
            </a:r>
          </a:p>
          <a:p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COUNT(*) INTO </a:t>
            </a:r>
            <a:r>
              <a:rPr lang="en-US" sz="7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table_exists</a:t>
            </a:r>
            <a:endParaRPr lang="en-US" sz="700" dirty="0">
              <a:solidFill>
                <a:srgbClr val="7EC8E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</a:t>
            </a:r>
            <a:r>
              <a:rPr lang="en-US" sz="7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information_schema.TABLES</a:t>
            </a:r>
            <a:endParaRPr lang="en-US" sz="700" dirty="0">
              <a:solidFill>
                <a:srgbClr val="7EC8E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TABLE_SCHEMA = 'warehouse' </a:t>
            </a:r>
          </a:p>
          <a:p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TABLE_NAME = </a:t>
            </a:r>
            <a:r>
              <a:rPr lang="en-US" sz="7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table_name</a:t>
            </a: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r>
              <a:rPr lang="en-US" sz="7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table_exists</a:t>
            </a: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0 THEN</a:t>
            </a:r>
          </a:p>
          <a:p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SELECT CONCAT('</a:t>
            </a:r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Таблица "', </a:t>
            </a:r>
            <a:r>
              <a:rPr lang="en-US" sz="7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table_name</a:t>
            </a: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'" </a:t>
            </a:r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найдена в базе данных!') </a:t>
            </a: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Успех;</a:t>
            </a:r>
          </a:p>
          <a:p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CONCAT('</a:t>
            </a:r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Индексы таблицы "', </a:t>
            </a:r>
            <a:r>
              <a:rPr lang="en-US" sz="7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table_name</a:t>
            </a: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'":') AS </a:t>
            </a:r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Информация;</a:t>
            </a:r>
          </a:p>
          <a:p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</a:p>
          <a:p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INDEX_NAME AS '</a:t>
            </a:r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Имя индекса',</a:t>
            </a:r>
          </a:p>
          <a:p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COLUMN_NAME AS '</a:t>
            </a:r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Столбец',</a:t>
            </a:r>
          </a:p>
          <a:p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INDEX_TYPE AS '</a:t>
            </a:r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Тип',</a:t>
            </a:r>
          </a:p>
          <a:p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NON_UNIQUE </a:t>
            </a:r>
          </a:p>
          <a:p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WHEN 0 THEN '</a:t>
            </a:r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Уникальный' </a:t>
            </a:r>
          </a:p>
          <a:p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'</a:t>
            </a:r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 уникальный' </a:t>
            </a:r>
          </a:p>
          <a:p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AS '</a:t>
            </a:r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Уникальность'</a:t>
            </a:r>
          </a:p>
          <a:p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7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information_schema.STATISTICS</a:t>
            </a:r>
            <a:endParaRPr lang="en-US" sz="700" dirty="0">
              <a:solidFill>
                <a:srgbClr val="7EC8E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WHERE TABLE_SCHEMA = 'warehouse' </a:t>
            </a:r>
          </a:p>
          <a:p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AND TABLE_NAME = </a:t>
            </a:r>
            <a:r>
              <a:rPr lang="en-US" sz="7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table_name</a:t>
            </a: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</a:p>
          <a:p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</a:p>
          <a:p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SELECT CONCAT('</a:t>
            </a:r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Ошибка 1146: Таблица "', </a:t>
            </a:r>
            <a:r>
              <a:rPr lang="en-US" sz="7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table_name</a:t>
            </a: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'" </a:t>
            </a:r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 найдена в базе данных!') </a:t>
            </a: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Ошибка;</a:t>
            </a:r>
          </a:p>
          <a:p>
            <a:r>
              <a:rPr lang="ru-RU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IF;</a:t>
            </a:r>
          </a:p>
          <a:p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//</a:t>
            </a:r>
          </a:p>
          <a:p>
            <a:r>
              <a:rPr lang="en-US" sz="7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;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B672803-34DA-2E05-4222-DF939D899D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3349" y="982980"/>
            <a:ext cx="4737066" cy="957231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7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00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Проектирование графовой базы данных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94960" y="777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</a:rPr>
              <a:t>Технология: Neo4j (Cypher) — графовое представление связей склада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9496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2B4A"/>
                </a:solidFill>
              </a:rPr>
              <a:t>Узлы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94960" y="1463040"/>
            <a:ext cx="356616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148132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(:Товар)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0" y="169164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category, price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394960" y="2011680"/>
            <a:ext cx="356616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20299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(:Поставщик)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0" y="22402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company, contact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394960" y="2560320"/>
            <a:ext cx="356616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0" y="25786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(:Заказ)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0" y="27889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date, status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394960" y="3108960"/>
            <a:ext cx="356616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0" y="312724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(:Покупатель)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0" y="33375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address</a:t>
            </a:r>
            <a:endParaRPr lang="en-US" sz="85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1A33800-C37C-9A36-5158-9D434301CB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33" y="716961"/>
            <a:ext cx="4619403" cy="437282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Управляющая кнопка: &quot;Пустой&quot; 2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EEB87063-B5A0-AC69-ADC1-6A05FAFB78AA}"/>
              </a:ext>
            </a:extLst>
          </p:cNvPr>
          <p:cNvSpPr/>
          <p:nvPr/>
        </p:nvSpPr>
        <p:spPr>
          <a:xfrm>
            <a:off x="6678273" y="109728"/>
            <a:ext cx="2301135" cy="45720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 содержанию</a:t>
            </a: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00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Запросы к графовой </a:t>
            </a:r>
            <a:r>
              <a:rPr lang="en-US" sz="2200" b="1" dirty="0" err="1">
                <a:solidFill>
                  <a:srgbClr val="FFFFFF"/>
                </a:solidFill>
              </a:rPr>
              <a:t>базе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данных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82880" y="82296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" y="822960"/>
            <a:ext cx="420624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</a:rPr>
              <a:t>Выборка</a:t>
            </a:r>
            <a:r>
              <a:rPr lang="en-US" sz="1100" b="1" dirty="0">
                <a:solidFill>
                  <a:srgbClr val="FFFFFF"/>
                </a:solidFill>
              </a:rPr>
              <a:t> с </a:t>
            </a:r>
            <a:r>
              <a:rPr lang="en-US" sz="1100" b="1" dirty="0" err="1">
                <a:solidFill>
                  <a:srgbClr val="FFFFFF"/>
                </a:solidFill>
              </a:rPr>
              <a:t>условием</a:t>
            </a:r>
            <a:r>
              <a:rPr lang="ru-RU" sz="1100" b="1" dirty="0">
                <a:solidFill>
                  <a:srgbClr val="FFFFFF"/>
                </a:solidFill>
              </a:rPr>
              <a:t> — Найти заказы со статусом "В обработке"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" y="1188720"/>
            <a:ext cx="4059936" cy="15087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1207008"/>
            <a:ext cx="393192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b:Buyer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)-[:MAKES_ORDER]-&gt;(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o:Order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o.status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'</a:t>
            </a:r>
            <a:r>
              <a:rPr lang="ru-RU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 обработке'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b.name AS </a:t>
            </a:r>
            <a:r>
              <a:rPr lang="ru-RU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Покупатель,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o.code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</a:t>
            </a:r>
            <a:r>
              <a:rPr lang="ru-RU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КодЗаказа</a:t>
            </a:r>
            <a:r>
              <a:rPr lang="ru-RU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o.date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</a:t>
            </a:r>
            <a:r>
              <a:rPr lang="ru-RU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Дата,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o.description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</a:t>
            </a:r>
            <a:r>
              <a:rPr lang="ru-RU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Описание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o.date</a:t>
            </a: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DESC</a:t>
            </a:r>
          </a:p>
        </p:txBody>
      </p:sp>
      <p:sp>
        <p:nvSpPr>
          <p:cNvPr id="11" name="Shape 8"/>
          <p:cNvSpPr/>
          <p:nvPr/>
        </p:nvSpPr>
        <p:spPr>
          <a:xfrm>
            <a:off x="4663440" y="82296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822960"/>
            <a:ext cx="420624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rgbClr val="FFFFFF"/>
                </a:solidFill>
              </a:rPr>
              <a:t>Добавление</a:t>
            </a:r>
            <a:r>
              <a:rPr lang="en-US" sz="1100" b="1" dirty="0">
                <a:solidFill>
                  <a:srgbClr val="FFFFFF"/>
                </a:solidFill>
              </a:rPr>
              <a:t> </a:t>
            </a:r>
            <a:r>
              <a:rPr lang="en-US" sz="1100" b="1" dirty="0" err="1">
                <a:solidFill>
                  <a:srgbClr val="FFFFFF"/>
                </a:solidFill>
              </a:rPr>
              <a:t>узла</a:t>
            </a:r>
            <a:r>
              <a:rPr lang="ru-RU" sz="1100" b="1" dirty="0">
                <a:solidFill>
                  <a:srgbClr val="FFFFFF"/>
                </a:solidFill>
              </a:rPr>
              <a:t> — Добавление нового покупателя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36592" y="1188720"/>
            <a:ext cx="4059936" cy="15087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5" name="Text 12"/>
          <p:cNvSpPr/>
          <p:nvPr/>
        </p:nvSpPr>
        <p:spPr>
          <a:xfrm>
            <a:off x="4800600" y="1207008"/>
            <a:ext cx="393192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(</a:t>
            </a:r>
            <a:r>
              <a:rPr lang="en-US" sz="900" dirty="0" err="1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b:Buyer</a:t>
            </a: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</a:p>
          <a:p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11,</a:t>
            </a:r>
          </a:p>
          <a:p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'</a:t>
            </a:r>
            <a:r>
              <a:rPr lang="ru-RU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Тестовый Покупатель',</a:t>
            </a:r>
          </a:p>
          <a:p>
            <a:r>
              <a:rPr lang="ru-RU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phone: '+79991234567',</a:t>
            </a:r>
          </a:p>
          <a:p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address: '</a:t>
            </a:r>
            <a:r>
              <a:rPr lang="ru-RU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Тестовый адрес',</a:t>
            </a:r>
          </a:p>
          <a:p>
            <a:r>
              <a:rPr lang="ru-RU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email: 'test@test.ru',</a:t>
            </a:r>
          </a:p>
          <a:p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discount: 0.0</a:t>
            </a:r>
          </a:p>
          <a:p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</a:p>
          <a:p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b</a:t>
            </a:r>
          </a:p>
        </p:txBody>
      </p:sp>
      <p:sp>
        <p:nvSpPr>
          <p:cNvPr id="16" name="Shape 13"/>
          <p:cNvSpPr/>
          <p:nvPr/>
        </p:nvSpPr>
        <p:spPr>
          <a:xfrm>
            <a:off x="182880" y="292608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82880" y="2926080"/>
            <a:ext cx="420624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" y="2926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rgbClr val="FFFFFF"/>
                </a:solidFill>
              </a:rPr>
              <a:t>Удаление</a:t>
            </a:r>
            <a:r>
              <a:rPr lang="en-US" sz="1100" b="1" dirty="0">
                <a:solidFill>
                  <a:srgbClr val="FFFFFF"/>
                </a:solidFill>
              </a:rPr>
              <a:t> </a:t>
            </a:r>
            <a:r>
              <a:rPr lang="en-US" sz="1100" b="1" dirty="0" err="1">
                <a:solidFill>
                  <a:srgbClr val="FFFFFF"/>
                </a:solidFill>
              </a:rPr>
              <a:t>узла</a:t>
            </a:r>
            <a:r>
              <a:rPr lang="ru-RU" sz="1100" b="1" dirty="0">
                <a:solidFill>
                  <a:srgbClr val="FFFFFF"/>
                </a:solidFill>
              </a:rPr>
              <a:t> — Удаление покупателя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56032" y="3291840"/>
            <a:ext cx="4059936" cy="15087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0" name="Text 17"/>
          <p:cNvSpPr/>
          <p:nvPr/>
        </p:nvSpPr>
        <p:spPr>
          <a:xfrm>
            <a:off x="320040" y="3310128"/>
            <a:ext cx="393192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</a:t>
            </a:r>
            <a:r>
              <a:rPr lang="en-US" sz="900" dirty="0" err="1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b:Buyer</a:t>
            </a:r>
            <a:r>
              <a:rPr lang="en-US" sz="9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{id: 11})</a:t>
            </a:r>
          </a:p>
          <a:p>
            <a:r>
              <a:rPr lang="en-US" sz="9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b</a:t>
            </a:r>
          </a:p>
        </p:txBody>
      </p:sp>
      <p:sp>
        <p:nvSpPr>
          <p:cNvPr id="21" name="Shape 18"/>
          <p:cNvSpPr/>
          <p:nvPr/>
        </p:nvSpPr>
        <p:spPr>
          <a:xfrm>
            <a:off x="4663440" y="292608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2926080"/>
            <a:ext cx="420624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3" name="Text 20"/>
          <p:cNvSpPr/>
          <p:nvPr/>
        </p:nvSpPr>
        <p:spPr>
          <a:xfrm>
            <a:off x="4754880" y="2926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100" b="1" dirty="0">
                <a:solidFill>
                  <a:srgbClr val="FFFFFF"/>
                </a:solidFill>
              </a:rPr>
              <a:t>Запрос на выборку данных в консоль — Вывод данных об заказах покупателей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36592" y="3291840"/>
            <a:ext cx="4059936" cy="15087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3310128"/>
            <a:ext cx="393192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Query1 = """</a:t>
            </a:r>
          </a:p>
          <a:p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b:Buyer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)-[:MAKES_ORDER]-&gt;(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o:Order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b.name AS </a:t>
            </a:r>
            <a:r>
              <a:rPr lang="ru-RU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Покупатель, 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o.code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</a:t>
            </a:r>
            <a:r>
              <a:rPr lang="ru-RU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КодЗаказа</a:t>
            </a:r>
            <a:r>
              <a:rPr lang="ru-RU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o.status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</a:t>
            </a:r>
            <a:r>
              <a:rPr lang="ru-RU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Статус</a:t>
            </a:r>
          </a:p>
          <a:p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o.date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DESC</a:t>
            </a:r>
          </a:p>
          <a:p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</a:p>
          <a:p>
            <a:r>
              <a:rPr lang="en-US" sz="900" dirty="0" err="1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execute_query</a:t>
            </a:r>
            <a:r>
              <a:rPr lang="en-US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(query1, "</a:t>
            </a:r>
            <a:r>
              <a:rPr lang="ru-RU" sz="9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заказы покупателей")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C26EBA14-1015-1ABF-2427-1339BA895F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26" y="1933839"/>
            <a:ext cx="3561347" cy="75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75AA1776-3B98-2FD6-D96A-17360EBB8B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973949"/>
            <a:ext cx="3958883" cy="678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7B92D14-7438-85C6-FC34-50043CAC43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408" y="3776493"/>
            <a:ext cx="30861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A07501A-ECBE-706C-762F-F872FBE5D9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262" y="3277338"/>
            <a:ext cx="2919703" cy="150664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Управляющая кнопка: &quot;Пустой&quot; 30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FCDE4C3F-97BE-3804-7DF6-9894A2652ADC}"/>
              </a:ext>
            </a:extLst>
          </p:cNvPr>
          <p:cNvSpPr/>
          <p:nvPr/>
        </p:nvSpPr>
        <p:spPr>
          <a:xfrm>
            <a:off x="6678273" y="109728"/>
            <a:ext cx="2301135" cy="45720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 содержанию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00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Анализ и аналитика данных</a:t>
            </a:r>
            <a:endParaRPr lang="en-US" sz="2200" dirty="0"/>
          </a:p>
        </p:txBody>
      </p:sp>
      <p:sp>
        <p:nvSpPr>
          <p:cNvPr id="8" name="Shape 3"/>
          <p:cNvSpPr/>
          <p:nvPr/>
        </p:nvSpPr>
        <p:spPr>
          <a:xfrm>
            <a:off x="164592" y="872890"/>
            <a:ext cx="2103120" cy="11887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9" name="Text 4"/>
          <p:cNvSpPr/>
          <p:nvPr/>
        </p:nvSpPr>
        <p:spPr>
          <a:xfrm>
            <a:off x="164592" y="91861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400" b="1" dirty="0">
                <a:solidFill>
                  <a:srgbClr val="E8700A"/>
                </a:solidFill>
              </a:rPr>
              <a:t>2673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210312" y="148553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</a:rPr>
              <a:t>Всего позиций на складе</a:t>
            </a:r>
            <a:endParaRPr lang="en-US" sz="90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6A50743-6CAB-06CD-635C-882CD95D0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893344"/>
            <a:ext cx="6743270" cy="404261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6E7370D-0A96-23F6-A2B7-DDFD78A109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20" y="893344"/>
            <a:ext cx="6743269" cy="4190780"/>
          </a:xfrm>
          <a:prstGeom prst="rect">
            <a:avLst/>
          </a:prstGeom>
        </p:spPr>
      </p:pic>
      <p:sp>
        <p:nvSpPr>
          <p:cNvPr id="24" name="Shape 3">
            <a:extLst>
              <a:ext uri="{FF2B5EF4-FFF2-40B4-BE49-F238E27FC236}">
                <a16:creationId xmlns:a16="http://schemas.microsoft.com/office/drawing/2014/main" id="{AC9A58C7-F7F4-21FA-F237-0D28B1773AB7}"/>
              </a:ext>
            </a:extLst>
          </p:cNvPr>
          <p:cNvSpPr/>
          <p:nvPr/>
        </p:nvSpPr>
        <p:spPr>
          <a:xfrm>
            <a:off x="164592" y="2302442"/>
            <a:ext cx="2103120" cy="11887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34226E3-1DAB-44E7-FBEB-D402E94FBDC0}"/>
              </a:ext>
            </a:extLst>
          </p:cNvPr>
          <p:cNvSpPr/>
          <p:nvPr/>
        </p:nvSpPr>
        <p:spPr>
          <a:xfrm>
            <a:off x="164592" y="234816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400" b="1" dirty="0">
                <a:solidFill>
                  <a:srgbClr val="E8700A"/>
                </a:solidFill>
              </a:rPr>
              <a:t>10</a:t>
            </a:r>
            <a:endParaRPr lang="en-US" sz="24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25A66892-BF77-AC8F-A00E-C8EE5B04BD44}"/>
              </a:ext>
            </a:extLst>
          </p:cNvPr>
          <p:cNvSpPr/>
          <p:nvPr/>
        </p:nvSpPr>
        <p:spPr>
          <a:xfrm>
            <a:off x="210312" y="291509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900" dirty="0">
                <a:solidFill>
                  <a:srgbClr val="B0C4DE"/>
                </a:solidFill>
              </a:rPr>
              <a:t>Обязательных полей</a:t>
            </a:r>
            <a:endParaRPr lang="en-US" sz="900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E20C1219-3CD8-CAD5-CB75-575837869D73}"/>
              </a:ext>
            </a:extLst>
          </p:cNvPr>
          <p:cNvSpPr/>
          <p:nvPr/>
        </p:nvSpPr>
        <p:spPr>
          <a:xfrm>
            <a:off x="164592" y="3686274"/>
            <a:ext cx="2103120" cy="11887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014B089B-4889-E747-7B84-EC126296B20D}"/>
              </a:ext>
            </a:extLst>
          </p:cNvPr>
          <p:cNvSpPr/>
          <p:nvPr/>
        </p:nvSpPr>
        <p:spPr>
          <a:xfrm>
            <a:off x="164592" y="3731994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400" b="1" dirty="0">
                <a:solidFill>
                  <a:srgbClr val="E8700A"/>
                </a:solidFill>
              </a:rPr>
              <a:t>2600000+</a:t>
            </a:r>
            <a:endParaRPr lang="en-US" sz="24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9B6E18D3-5CA4-4CF2-E03D-D7CB496AAF70}"/>
              </a:ext>
            </a:extLst>
          </p:cNvPr>
          <p:cNvSpPr/>
          <p:nvPr/>
        </p:nvSpPr>
        <p:spPr>
          <a:xfrm>
            <a:off x="210312" y="429892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900" dirty="0">
                <a:solidFill>
                  <a:srgbClr val="B0C4DE"/>
                </a:solidFill>
              </a:rPr>
              <a:t>Общая сумма по всем позициям за период</a:t>
            </a:r>
            <a:endParaRPr lang="en-US" sz="900" dirty="0"/>
          </a:p>
        </p:txBody>
      </p:sp>
      <p:sp>
        <p:nvSpPr>
          <p:cNvPr id="30" name="Управляющая кнопка: &quot;Пустой&quot; 29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A91930C0-F568-60B7-A52A-A1E50D09355E}"/>
              </a:ext>
            </a:extLst>
          </p:cNvPr>
          <p:cNvSpPr/>
          <p:nvPr/>
        </p:nvSpPr>
        <p:spPr>
          <a:xfrm>
            <a:off x="6678273" y="109728"/>
            <a:ext cx="2301135" cy="45720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 содержанию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00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Дашборд — Управление складом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82880" y="777241"/>
            <a:ext cx="8778240" cy="3939138"/>
          </a:xfrm>
          <a:prstGeom prst="rect">
            <a:avLst/>
          </a:prstGeom>
          <a:solidFill>
            <a:srgbClr val="1E3A5F"/>
          </a:solidFill>
          <a:ln w="25400">
            <a:solidFill>
              <a:srgbClr val="E8700A"/>
            </a:solidFill>
            <a:prstDash val="solid"/>
          </a:ln>
        </p:spPr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3954EDB-9A70-FB30-148B-78357C398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795527"/>
            <a:ext cx="8760312" cy="3920851"/>
          </a:xfrm>
          <a:prstGeom prst="rect">
            <a:avLst/>
          </a:prstGeom>
        </p:spPr>
      </p:pic>
      <p:sp>
        <p:nvSpPr>
          <p:cNvPr id="9" name="Управляющая кнопка: &quot;Пустой&quot;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A176E9F8-A35B-02C3-8441-B3356C784EBE}"/>
              </a:ext>
            </a:extLst>
          </p:cNvPr>
          <p:cNvSpPr/>
          <p:nvPr/>
        </p:nvSpPr>
        <p:spPr>
          <a:xfrm>
            <a:off x="6678273" y="109728"/>
            <a:ext cx="2301135" cy="45720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 содержанию</a:t>
            </a: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00A"/>
          </a:solidFill>
          <a:ln/>
        </p:spPr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B296402A-5508-4558-AA96-EA80305521C5}"/>
              </a:ext>
            </a:extLst>
          </p:cNvPr>
          <p:cNvSpPr/>
          <p:nvPr/>
        </p:nvSpPr>
        <p:spPr>
          <a:xfrm>
            <a:off x="228600" y="625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/>
              <a:t>Заключение</a:t>
            </a:r>
            <a:endParaRPr lang="en-US" sz="28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5B2DE678-27FE-4DC4-A03A-E4B9515A5254}"/>
              </a:ext>
            </a:extLst>
          </p:cNvPr>
          <p:cNvSpPr/>
          <p:nvPr/>
        </p:nvSpPr>
        <p:spPr>
          <a:xfrm>
            <a:off x="228600" y="98352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700A"/>
                </a:solidFill>
              </a:rPr>
              <a:t>Система управления складом</a:t>
            </a:r>
            <a:endParaRPr lang="en-US" sz="1400" dirty="0"/>
          </a:p>
        </p:txBody>
      </p:sp>
      <p:sp>
        <p:nvSpPr>
          <p:cNvPr id="12" name="Управляющая кнопка: &quot;Пустой&quot; 1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13590CA-8511-446C-A5C2-A8C018424F87}"/>
              </a:ext>
            </a:extLst>
          </p:cNvPr>
          <p:cNvSpPr/>
          <p:nvPr/>
        </p:nvSpPr>
        <p:spPr>
          <a:xfrm>
            <a:off x="6678273" y="109728"/>
            <a:ext cx="2301135" cy="45720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 содержанию</a:t>
            </a:r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3E327E33-F63B-4AA1-8924-5CE826E5C749}"/>
              </a:ext>
            </a:extLst>
          </p:cNvPr>
          <p:cNvSpPr/>
          <p:nvPr/>
        </p:nvSpPr>
        <p:spPr>
          <a:xfrm>
            <a:off x="731520" y="1908646"/>
            <a:ext cx="274320" cy="274320"/>
          </a:xfrm>
          <a:prstGeom prst="rect">
            <a:avLst/>
          </a:prstGeom>
          <a:solidFill>
            <a:srgbClr val="E8700A"/>
          </a:solidFill>
          <a:ln/>
        </p:spPr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0A6DE2DB-4C94-49C5-BF5B-311DC21CC95E}"/>
              </a:ext>
            </a:extLst>
          </p:cNvPr>
          <p:cNvSpPr/>
          <p:nvPr/>
        </p:nvSpPr>
        <p:spPr>
          <a:xfrm>
            <a:off x="731520" y="19086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7B2AD12F-6D9B-4826-A057-65A2B2C27630}"/>
              </a:ext>
            </a:extLst>
          </p:cNvPr>
          <p:cNvSpPr/>
          <p:nvPr/>
        </p:nvSpPr>
        <p:spPr>
          <a:xfrm>
            <a:off x="731520" y="2384134"/>
            <a:ext cx="274320" cy="274320"/>
          </a:xfrm>
          <a:prstGeom prst="rect">
            <a:avLst/>
          </a:prstGeom>
          <a:solidFill>
            <a:srgbClr val="E8700A"/>
          </a:solidFill>
          <a:ln/>
        </p:spPr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6FC7FDE9-B3BB-4C52-8D74-D5BE0349B20B}"/>
              </a:ext>
            </a:extLst>
          </p:cNvPr>
          <p:cNvSpPr/>
          <p:nvPr/>
        </p:nvSpPr>
        <p:spPr>
          <a:xfrm>
            <a:off x="731520" y="23841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F6E68DE9-9FC6-4D67-B9E4-62706B2E29F8}"/>
              </a:ext>
            </a:extLst>
          </p:cNvPr>
          <p:cNvSpPr/>
          <p:nvPr/>
        </p:nvSpPr>
        <p:spPr>
          <a:xfrm>
            <a:off x="731520" y="2859622"/>
            <a:ext cx="274320" cy="274320"/>
          </a:xfrm>
          <a:prstGeom prst="rect">
            <a:avLst/>
          </a:prstGeom>
          <a:solidFill>
            <a:srgbClr val="E8700A"/>
          </a:solidFill>
          <a:ln/>
        </p:spPr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840CC0DB-04B7-4702-A5C3-D420BE26E097}"/>
              </a:ext>
            </a:extLst>
          </p:cNvPr>
          <p:cNvSpPr/>
          <p:nvPr/>
        </p:nvSpPr>
        <p:spPr>
          <a:xfrm>
            <a:off x="731520" y="28596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29853718-8C6F-4396-A7F2-6EA5CFB36FE4}"/>
              </a:ext>
            </a:extLst>
          </p:cNvPr>
          <p:cNvSpPr/>
          <p:nvPr/>
        </p:nvSpPr>
        <p:spPr>
          <a:xfrm>
            <a:off x="731520" y="3335110"/>
            <a:ext cx="274320" cy="274320"/>
          </a:xfrm>
          <a:prstGeom prst="rect">
            <a:avLst/>
          </a:prstGeom>
          <a:solidFill>
            <a:srgbClr val="E8700A"/>
          </a:solidFill>
          <a:ln/>
        </p:spPr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3B426936-4162-49E6-ADBB-E535B1BD37F8}"/>
              </a:ext>
            </a:extLst>
          </p:cNvPr>
          <p:cNvSpPr/>
          <p:nvPr/>
        </p:nvSpPr>
        <p:spPr>
          <a:xfrm>
            <a:off x="731520" y="333511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9036206B-E92C-48B0-BF12-C8DF88B90068}"/>
              </a:ext>
            </a:extLst>
          </p:cNvPr>
          <p:cNvSpPr/>
          <p:nvPr/>
        </p:nvSpPr>
        <p:spPr>
          <a:xfrm>
            <a:off x="731520" y="3810598"/>
            <a:ext cx="274320" cy="274320"/>
          </a:xfrm>
          <a:prstGeom prst="rect">
            <a:avLst/>
          </a:prstGeom>
          <a:solidFill>
            <a:srgbClr val="E8700A"/>
          </a:solidFill>
          <a:ln/>
        </p:spPr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0D7377EC-C040-45BA-BB9C-2E30E310EA23}"/>
              </a:ext>
            </a:extLst>
          </p:cNvPr>
          <p:cNvSpPr/>
          <p:nvPr/>
        </p:nvSpPr>
        <p:spPr>
          <a:xfrm>
            <a:off x="731520" y="38105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9C6966C9-546E-4D21-B5AE-BB45A6654E19}"/>
              </a:ext>
            </a:extLst>
          </p:cNvPr>
          <p:cNvSpPr/>
          <p:nvPr/>
        </p:nvSpPr>
        <p:spPr>
          <a:xfrm>
            <a:off x="731520" y="4286086"/>
            <a:ext cx="274320" cy="274320"/>
          </a:xfrm>
          <a:prstGeom prst="rect">
            <a:avLst/>
          </a:prstGeom>
          <a:solidFill>
            <a:srgbClr val="E8700A"/>
          </a:solidFill>
          <a:ln/>
        </p:spPr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0A8A7058-39CC-48EA-8A00-73F0857FEC4B}"/>
              </a:ext>
            </a:extLst>
          </p:cNvPr>
          <p:cNvSpPr/>
          <p:nvPr/>
        </p:nvSpPr>
        <p:spPr>
          <a:xfrm>
            <a:off x="731520" y="42860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67FB4221-BE5A-4835-AEB4-AB59029DE89B}"/>
              </a:ext>
            </a:extLst>
          </p:cNvPr>
          <p:cNvSpPr/>
          <p:nvPr/>
        </p:nvSpPr>
        <p:spPr>
          <a:xfrm>
            <a:off x="731520" y="4761574"/>
            <a:ext cx="274320" cy="274320"/>
          </a:xfrm>
          <a:prstGeom prst="rect">
            <a:avLst/>
          </a:prstGeom>
          <a:solidFill>
            <a:srgbClr val="E8700A"/>
          </a:solidFill>
          <a:ln/>
        </p:spPr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7F1F7436-4A9F-466D-BCFF-AD9D4DF65791}"/>
              </a:ext>
            </a:extLst>
          </p:cNvPr>
          <p:cNvSpPr/>
          <p:nvPr/>
        </p:nvSpPr>
        <p:spPr>
          <a:xfrm>
            <a:off x="731520" y="47615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EA282953-ABD6-46F2-B791-665CB58D222A}"/>
              </a:ext>
            </a:extLst>
          </p:cNvPr>
          <p:cNvSpPr/>
          <p:nvPr/>
        </p:nvSpPr>
        <p:spPr>
          <a:xfrm>
            <a:off x="1097280" y="230183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Спроектирована и реализована реляционная БД «Управление складом» в СУБД</a:t>
            </a: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32F5260A-24B3-46BA-ABC3-4B5857F41B8C}"/>
              </a:ext>
            </a:extLst>
          </p:cNvPr>
          <p:cNvSpPr/>
          <p:nvPr/>
        </p:nvSpPr>
        <p:spPr>
          <a:xfrm>
            <a:off x="1097280" y="27808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Разработаны запросы: выборка, группировка, подзапросы, соединение таблиц</a:t>
            </a:r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FD04DCA3-F20D-444B-9F12-F863F7C48D43}"/>
              </a:ext>
            </a:extLst>
          </p:cNvPr>
          <p:cNvSpPr/>
          <p:nvPr/>
        </p:nvSpPr>
        <p:spPr>
          <a:xfrm>
            <a:off x="1097280" y="326195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Реализованы триггеры для автоматического контроля остатков</a:t>
            </a: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61F9D600-D62D-42F8-AA06-17105DD56FF1}"/>
              </a:ext>
            </a:extLst>
          </p:cNvPr>
          <p:cNvSpPr/>
          <p:nvPr/>
        </p:nvSpPr>
        <p:spPr>
          <a:xfrm>
            <a:off x="1097280" y="3737446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Настроены группы пользователей с разграничением прав доступа</a:t>
            </a:r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B9655042-44CD-4CA3-9A45-98F6B9B023F8}"/>
              </a:ext>
            </a:extLst>
          </p:cNvPr>
          <p:cNvSpPr/>
          <p:nvPr/>
        </p:nvSpPr>
        <p:spPr>
          <a:xfrm>
            <a:off x="1097280" y="4212934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Спроектирована и заполнена графовая БД (Neo4j) с </a:t>
            </a:r>
            <a:r>
              <a:rPr lang="en-US" sz="1100" dirty="0" err="1"/>
              <a:t>запросами</a:t>
            </a:r>
            <a:endParaRPr lang="en-US" sz="1100" dirty="0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DFCFFEAC-95AC-4540-8536-5A4EDB9F0462}"/>
              </a:ext>
            </a:extLst>
          </p:cNvPr>
          <p:cNvSpPr/>
          <p:nvPr/>
        </p:nvSpPr>
        <p:spPr>
          <a:xfrm>
            <a:off x="1097280" y="468842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Выполнена аналитика данных и создан дашборд с визуализациями</a:t>
            </a:r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7395581C-2BA7-4C27-AB33-41BACF3FCE61}"/>
              </a:ext>
            </a:extLst>
          </p:cNvPr>
          <p:cNvSpPr/>
          <p:nvPr/>
        </p:nvSpPr>
        <p:spPr>
          <a:xfrm>
            <a:off x="731520" y="1493162"/>
            <a:ext cx="274320" cy="274320"/>
          </a:xfrm>
          <a:prstGeom prst="rect">
            <a:avLst/>
          </a:prstGeom>
          <a:solidFill>
            <a:srgbClr val="E8700A"/>
          </a:solidFill>
          <a:ln/>
        </p:spPr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8F2E04BD-35B0-417D-90F3-63F9D6CD51C7}"/>
              </a:ext>
            </a:extLst>
          </p:cNvPr>
          <p:cNvSpPr/>
          <p:nvPr/>
        </p:nvSpPr>
        <p:spPr>
          <a:xfrm>
            <a:off x="731520" y="15012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DCE9BD61-B60D-4D56-8FD5-3F1A0CF0E36C}"/>
              </a:ext>
            </a:extLst>
          </p:cNvPr>
          <p:cNvSpPr/>
          <p:nvPr/>
        </p:nvSpPr>
        <p:spPr>
          <a:xfrm>
            <a:off x="1097280" y="1418896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/>
              <a:t>Спроектирована</a:t>
            </a:r>
            <a:r>
              <a:rPr lang="en-US" sz="1100" dirty="0"/>
              <a:t> и</a:t>
            </a:r>
            <a:r>
              <a:rPr lang="ru-RU" sz="1100" dirty="0"/>
              <a:t> разработана постановка задачи с функциональным анализом</a:t>
            </a:r>
            <a:endParaRPr lang="en-US" sz="110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688580E9-8F1D-46C4-9E32-D070FF3072B4}"/>
              </a:ext>
            </a:extLst>
          </p:cNvPr>
          <p:cNvSpPr/>
          <p:nvPr/>
        </p:nvSpPr>
        <p:spPr>
          <a:xfrm>
            <a:off x="1097280" y="1821333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100" dirty="0"/>
              <a:t>Разработана технология </a:t>
            </a:r>
            <a:r>
              <a:rPr lang="en-US" sz="1100" dirty="0"/>
              <a:t>UML </a:t>
            </a:r>
            <a:r>
              <a:rPr lang="ru-RU" sz="1100" dirty="0"/>
              <a:t>с структурным анализом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9551550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2012</Words>
  <Application>Microsoft Office PowerPoint</Application>
  <PresentationFormat>Экран (16:9)</PresentationFormat>
  <Paragraphs>300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Consolas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складом</dc:title>
  <dc:subject>PptxGenJS Presentation</dc:subject>
  <dc:creator>PptxGenJS</dc:creator>
  <cp:lastModifiedBy>GeffTheKiller .</cp:lastModifiedBy>
  <cp:revision>17</cp:revision>
  <dcterms:created xsi:type="dcterms:W3CDTF">2026-04-23T20:12:19Z</dcterms:created>
  <dcterms:modified xsi:type="dcterms:W3CDTF">2026-04-26T13:33:08Z</dcterms:modified>
</cp:coreProperties>
</file>